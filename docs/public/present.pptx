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Open Sans Medium"/>
      <p:regular r:id="rId25"/>
      <p:bold r:id="rId26"/>
      <p:italic r:id="rId27"/>
      <p:boldItalic r:id="rId28"/>
    </p:embeddedFont>
    <p:embeddedFont>
      <p:font typeface="Open Sans Light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BD52D6-B27F-473A-8025-2317E384330C}">
  <a:tblStyle styleId="{42BD52D6-B27F-473A-8025-2317E38433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Medium-bold.fntdata"/><Relationship Id="rId25" Type="http://schemas.openxmlformats.org/officeDocument/2006/relationships/font" Target="fonts/OpenSansMedium-regular.fntdata"/><Relationship Id="rId28" Type="http://schemas.openxmlformats.org/officeDocument/2006/relationships/font" Target="fonts/OpenSansMedium-boldItalic.fntdata"/><Relationship Id="rId27" Type="http://schemas.openxmlformats.org/officeDocument/2006/relationships/font" Target="fonts/OpenSans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Light-italic.fntdata"/><Relationship Id="rId30" Type="http://schemas.openxmlformats.org/officeDocument/2006/relationships/font" Target="fonts/OpenSansLight-bold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OpenSansLight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6460503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6460503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460503f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460503f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460503f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6460503f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460503f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6460503f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460503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6460503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6ddb061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6ddb061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460503f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6460503f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6ddb061c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6ddb061c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6ddb061c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6ddb061c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6460503f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6460503f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6ddb061c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6ddb061c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6ddb061c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6ddb061c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6460503f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6460503f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6ddb061c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6ddb061c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792ed7e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792ed7e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792ed7e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792ed7e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6ddb061c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6ddb061c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jpg"/><Relationship Id="rId5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cholar.google.com/citations?user=TWC3FrYAAAAJ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5.jp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04775"/>
            <a:ext cx="8520600" cy="13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434343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Fractals as a Bridge Between Human Vision and Neuromorphic Computing</a:t>
            </a:r>
            <a:endParaRPr sz="7400">
              <a:solidFill>
                <a:srgbClr val="434343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0625" y="1927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Practical Applications with Robert Newport, PhD.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Rapid Analysis PTY LTD, Computational NeuroSurgery Lab.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" name="Google Shape;56;p13" title="rob small squ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600" y="3234825"/>
            <a:ext cx="1368000" cy="136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57;p13" title="CN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324" y="3424174"/>
            <a:ext cx="1486625" cy="9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RapidAnalysis B&amp;W Logo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5624" y="3424172"/>
            <a:ext cx="989262" cy="9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Background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655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Honorary </a:t>
            </a: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member </a:t>
            </a: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of Computational NeuroSurgery (CNS) Lab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Machine Learning and AI Consultant: Weburban PTY LTD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Embedded Hardware Developer: Rapid Analysis PTY LTD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Research PhD awarded by Macquarie University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MSE &amp; RI Practicum from Carnegie Mellon University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https://scholar.google.com/citations?user=TWC3FrYAAAAJ</a:t>
            </a:r>
            <a:endParaRPr sz="2100"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* Not a clinician or biologist</a:t>
            </a:r>
            <a:endParaRPr i="1" sz="2100"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65" name="Google Shape;65;p14" title="CN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7474" y="884649"/>
            <a:ext cx="1486625" cy="9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RapidAnalysis B&amp;W Logo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4897" y="1980725"/>
            <a:ext cx="1291800" cy="129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Macquarie_Universit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2724" y="3629925"/>
            <a:ext cx="2376124" cy="93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What is Neuromorphic computing?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Open Sans Light"/>
                <a:ea typeface="Open Sans Light"/>
                <a:cs typeface="Open Sans Light"/>
                <a:sym typeface="Open Sans Light"/>
              </a:rPr>
              <a:t>Neuro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 meaning brain and </a:t>
            </a:r>
            <a:r>
              <a:rPr i="1" lang="en-GB">
                <a:latin typeface="Open Sans Light"/>
                <a:ea typeface="Open Sans Light"/>
                <a:cs typeface="Open Sans Light"/>
                <a:sym typeface="Open Sans Light"/>
              </a:rPr>
              <a:t>morphic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 meaning structure. 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C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ommunication where information is transmitted through discrete event-driven rather than continuous activation signals.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Highly energy efficient and sparse.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Computation and power consumption are a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synchronous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 enabling </a:t>
            </a:r>
            <a:b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m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assive parallelism.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800">
                <a:latin typeface="Open Sans Light"/>
                <a:ea typeface="Open Sans Light"/>
                <a:cs typeface="Open Sans Light"/>
                <a:sym typeface="Open Sans Light"/>
              </a:rPr>
              <a:t>Wang, X.; Zhu, Y.; Zhou, Z.; Chen, X.; Jia, X. Memristor-Based Spiking Neuromorphic Systems Toward Brain-Inspired Perception and Computing. Nanomaterials 2025, 15, 1130.</a:t>
            </a:r>
            <a:endParaRPr sz="800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Presentation Hypothesis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Open Sans"/>
                <a:ea typeface="Open Sans"/>
                <a:cs typeface="Open Sans"/>
                <a:sym typeface="Open Sans"/>
              </a:rPr>
              <a:t>Given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: 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The brain's visual system is widely considered the best understood of the five sensory systems.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Open Sans"/>
                <a:ea typeface="Open Sans"/>
                <a:cs typeface="Open Sans"/>
                <a:sym typeface="Open Sans"/>
              </a:rPr>
              <a:t>Given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: M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ultiple large filtering mechanisms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 exists between retinal visual processing and the brain’s executive function.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latin typeface="Open Sans"/>
                <a:ea typeface="Open Sans"/>
                <a:cs typeface="Open Sans"/>
                <a:sym typeface="Open Sans"/>
              </a:rPr>
              <a:t>Posit</a:t>
            </a: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: Fractals can be a useful tool to assist in emulating human perception by measuring and filtering complexity during computational machine vision processing. 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thumb-finger-29040988.jpg"/>
          <p:cNvPicPr preferRelativeResize="0"/>
          <p:nvPr/>
        </p:nvPicPr>
        <p:blipFill rotWithShape="1">
          <a:blip r:embed="rId3">
            <a:alphaModFix/>
          </a:blip>
          <a:srcRect b="18387" l="0" r="0" t="0"/>
          <a:stretch/>
        </p:blipFill>
        <p:spPr>
          <a:xfrm>
            <a:off x="2860675" y="939525"/>
            <a:ext cx="3422650" cy="42039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The User Illusion: Physical Demonstration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4288825"/>
            <a:ext cx="8520600" cy="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Tor, Norretranders. "The User Illusion." New York5 (1991).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Human Biological Visual Processing Speeds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aphicFrame>
        <p:nvGraphicFramePr>
          <p:cNvPr id="92" name="Google Shape;92;p18"/>
          <p:cNvGraphicFramePr/>
          <p:nvPr/>
        </p:nvGraphicFramePr>
        <p:xfrm>
          <a:off x="435575" y="1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{42BD52D6-B27F-473A-8025-2317E384330C}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43434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Measurement Point</a:t>
                      </a:r>
                      <a:endParaRPr b="1">
                        <a:solidFill>
                          <a:srgbClr val="43434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43434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Information Rate</a:t>
                      </a:r>
                      <a:endParaRPr b="1">
                        <a:solidFill>
                          <a:srgbClr val="43434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Sensory Gathering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~1 Billion (10</a:t>
                      </a:r>
                      <a:r>
                        <a:rPr baseline="30000"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9</a:t>
                      </a: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)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Retinal </a:t>
                      </a: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Bandwidth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10 to 11 million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Optic Nerve Bandwidth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~6 million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Visual Cortex (V1) </a:t>
                      </a: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Bandwidth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~10,000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Conscious Thought &amp; Awareness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~10 to 60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Zheng, Jieyu, and Markus Meister. "The unbearable slowness of being: Why do we live at 10 bits/s?." Neuron 113.2 (2025): 192-204.</a:t>
                      </a:r>
                      <a:endParaRPr sz="800"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Machine Vision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98" name="Google Shape;98;p19" title="oper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75" y="1334625"/>
            <a:ext cx="3584076" cy="26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 title="opera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075" y="1334625"/>
            <a:ext cx="3584074" cy="2688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Machine Visual Processing Speeds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435575" y="12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{42BD52D6-B27F-473A-8025-2317E384330C}</a:tableStyleId>
              </a:tblPr>
              <a:tblGrid>
                <a:gridCol w="3725700"/>
                <a:gridCol w="351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43434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Measurement Point</a:t>
                      </a:r>
                      <a:endParaRPr b="1">
                        <a:solidFill>
                          <a:srgbClr val="43434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43434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Information Rate</a:t>
                      </a:r>
                      <a:endParaRPr b="1">
                        <a:solidFill>
                          <a:srgbClr val="43434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Sensory Gathering (Sensor)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576 million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Retinal Bandwidth (MIPI CSI-2 interface) 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20 billion</a:t>
                      </a: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Optic Nerve Bandwidth </a:t>
                      </a: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(Memory Bandwidth)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102 billion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Visual Cortex (V1) </a:t>
                      </a: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(CUDA Processing)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120 billion bits per second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Conscious Thought &amp; Awareness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10 bits represent 1000 classes in ResNet</a:t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434343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Measurements for the NVIDIA Jetson Orin Nano (around $500 USD).</a:t>
                      </a:r>
                      <a:endParaRPr sz="800">
                        <a:solidFill>
                          <a:srgbClr val="434343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pic>
        <p:nvPicPr>
          <p:cNvPr id="106" name="Google Shape;106;p20" title="H0aa4f6a718fa408c8445535844e3d2b2n.png_300x300.jpg"/>
          <p:cNvPicPr preferRelativeResize="0"/>
          <p:nvPr/>
        </p:nvPicPr>
        <p:blipFill rotWithShape="1">
          <a:blip r:embed="rId3">
            <a:alphaModFix/>
          </a:blip>
          <a:srcRect b="24269" l="17170" r="16560" t="26181"/>
          <a:stretch/>
        </p:blipFill>
        <p:spPr>
          <a:xfrm>
            <a:off x="6454575" y="328513"/>
            <a:ext cx="1220000" cy="8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Foveated Rendering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12" name="Google Shape;112;p21" title="foveated_renderi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25" y="1017725"/>
            <a:ext cx="5094634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5582450" y="3942825"/>
            <a:ext cx="3355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Gaze-contingent and spatial acuity-based rendering by Guenter, Brian, et al. "Foveated 3D graphics." ACM transactions on Graphics (tOG) 31.6 (2012): 1-10.</a:t>
            </a:r>
            <a:endParaRPr sz="1200"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Robotic </a:t>
            </a:r>
            <a:r>
              <a:rPr i="1"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Perception</a:t>
            </a:r>
            <a:endParaRPr i="1"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14425"/>
            <a:ext cx="8520600" cy="3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“</a:t>
            </a: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Human vision is a highly active process driven by gaze, which directs attention to task-relevant regions through foveation, dramatically reducing visual processing. In contrast, robot learning systems typically rely on passive, uniform processing of raw camera images.” 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20" name="Google Shape;120;p22" title="Screenshot 2026-02-11 at 11.56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021" y="2760250"/>
            <a:ext cx="5065700" cy="206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Fractals Dimension and Gaze Outliers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Fractal Dimension can be used to measure gaze outliers, </a:t>
            </a:r>
            <a:r>
              <a:rPr i="1"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hinting at the likelihood of a physiological average gaze fractal dimension.</a:t>
            </a:r>
            <a:endParaRPr i="1"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27" name="Google Shape;127;p23" title="Screenshot 2026-02-10 at 7.11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13" y="1595575"/>
            <a:ext cx="576262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Fractals used to find outliers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Scanpaths illustrating the relationship between geometrical complexity and HFD values, (a) high complexity HFD = 1.9596, (b) average complexity HFD =1.5672, and (c) low complexity HFD = 1.1515.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34" name="Google Shape;134;p24" title="Screenshot 2026-02-10 at 7.12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424975"/>
            <a:ext cx="576262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Fractals used to find outliers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300800"/>
            <a:ext cx="8520600" cy="3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</a:t>
            </a: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catter plot with two standard deviations from the mean of all contributing participant Higuchi fractal dimensions (HFDs).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41" name="Google Shape;141;p25" title="Screenshot 2026-02-10 at 7.14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50" y="1195475"/>
            <a:ext cx="4824425" cy="29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Pseudo Code Demonstrating Inattentive Machine Gaze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simple demonstration approximates a fractal dimension of ~1.5 using fractional Brownian motion (fBm) to generate correlated randomness. 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Given a stimulus boundary of width and height, and a finite number of points, and a naive step value of 5 to simulate gaze distance, we can perform some simple pseudo code as a basic neuromorphic robotic vision scanner.</a:t>
            </a:r>
            <a:endParaRPr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43434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See next page.</a:t>
            </a:r>
            <a:endParaRPr i="1">
              <a:solidFill>
                <a:srgbClr val="43434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3F3F3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282175"/>
            <a:ext cx="8520600" cy="46368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width  = 1920	# stimulus boundary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height = 1080	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N      = 100	# number of fixation points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H      = 0.5   	# Hurst exponent → fractal dimension ≈ 1.5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step   = 5		# distance between fixations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x, y = 960, 540	# start near centre to simulate orbital reserve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points = []		# array of fixation points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for i in 1..N: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	# sample a random value from a normal distribution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    dx = gaussian_noise(mean=0, std=step) * (i ^ -H)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    dy = gaussian_noise(mean=0, std=step) * (i ^ -H)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    x = clamp(x + dx, 0, width)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    y = clamp(y + dy, 0, height)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    points.append((x, y))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8" title="Screenshot 2026-02-13 at 12.44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6066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9" title="Unknown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75" y="1514475"/>
            <a:ext cx="3527212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9" title="Unknow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925" y="1514475"/>
            <a:ext cx="3527200" cy="2212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/>
        </p:nvSpPr>
        <p:spPr>
          <a:xfrm>
            <a:off x="1021875" y="970975"/>
            <a:ext cx="2500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Random, n=100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5230125" y="970975"/>
            <a:ext cx="2500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Fractal, n=100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Conclusion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Current state of the art in neuromorphic machine vision systems can be adapted using fractal dimension to perform visual search.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Compute resources for image processing can be scaled up to better scrutinise details in regions of interest to increase performance, as demonstrated by neurological filters in human vision. 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Open Sans Light"/>
                <a:ea typeface="Open Sans Light"/>
                <a:cs typeface="Open Sans Light"/>
                <a:sym typeface="Open Sans Light"/>
              </a:rPr>
              <a:t>Future work can incorporate other visual effect such as inhibition of return, anisotropic effects, Gestalt Grouping Principles, Contrast Adaptation, visual attraction mechanisms, and others. 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